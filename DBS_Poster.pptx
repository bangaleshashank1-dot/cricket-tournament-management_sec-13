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3908" cy="15137892"/>
  <p:notesSz cx="15137892" cy="1069390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9" Type="http://schemas.openxmlformats.org/officeDocument/2006/relationships/image" Target="../media/klh_logo.png"/><Relationship Id="rId20" Type="http://schemas.openxmlformats.org/officeDocument/2006/relationships/image" Target="../media/shot_scorer.png"/><Relationship Id="rId21" Type="http://schemas.openxmlformats.org/officeDocument/2006/relationships/image" Target="../media/shot_db.png"/><Relationship Id="rId22" Type="http://schemas.openxmlformats.org/officeDocument/2006/relationships/image" Target="../media/github_qr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617220"/>
            <a:ext cx="12801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Cricket Tournament Management System</a:t>
            </a:r>
            <a:endParaRPr lang="en-US" sz="3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Members: D. Satvarsh, P. Laxman Raj Teja, B. Shashank  |  II Year B.Tech, CS-IT (AIML)</a:t>
            </a:r>
            <a:endParaRPr lang="en-US" sz="3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M. Gayatri, Associate Professor</a:t>
            </a:r>
            <a:endParaRPr lang="en-US" sz="3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CSE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8745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system that replaces paper and spreadsheet records with a centralized relational database for teams, players, matches, venues and scores.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automatically calculates results, points, wins, losses, NRR and rankings, so admins manage tournaments faster and users can view fixtures, scores and standings.</a:t>
            </a:r>
          </a:p>
        </p:txBody>
      </p:sp>
      <p:sp>
        <p:nvSpPr>
          <p:cNvPr id="9" name="Shape 7"/>
          <p:cNvSpPr/>
          <p:nvPr/>
        </p:nvSpPr>
        <p:spPr>
          <a:xfrm>
            <a:off x="365760" y="4114800"/>
            <a:ext cx="4844034" cy="256032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42062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572000"/>
            <a:ext cx="456971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Problem: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paper and spreadsheet records cause duplicate data, calculation errors and lost records.</a:t>
            </a:r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Objective 1: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teams, players, matches and scores in one database.</a:t>
            </a:r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Objective 2: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results, points, NRR and rankings.</a:t>
            </a:r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Objective 3: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admins manage records and users view fixtures and standings.</a:t>
            </a:r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Scope: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and user modules for teams, players, scheduling, scores and points table.</a:t>
            </a:r>
          </a:p>
        </p:txBody>
      </p:sp>
      <p:sp>
        <p:nvSpPr>
          <p:cNvPr id="12" name="Shape 10"/>
          <p:cNvSpPr/>
          <p:nvPr/>
        </p:nvSpPr>
        <p:spPr>
          <a:xfrm>
            <a:off x="365760" y="6812280"/>
            <a:ext cx="4844034" cy="32461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903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1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7269480"/>
          <a:ext cx="4569714" cy="2660904"/>
        </p:xfrm>
        <a:graphic>
          <a:graphicData uri="http://schemas.openxmlformats.org/drawingml/2006/table">
            <a:tbl>
              <a:tblPr/>
              <a:tblGrid>
                <a:gridCol w="1097280"/>
                <a:gridCol w="1760220"/>
                <a:gridCol w="17602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Paper, notebooks and separate files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Centralized relational 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points, wins and NRR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results, points and NRR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Updates &amp; Search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Slow; records hard to find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CRUD operations and search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to produce accurately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Auto-generated points table and rankings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/ Gap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Duplication, errors, lost records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Validated, organized, consistent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10195560"/>
            <a:ext cx="4844034" cy="224028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102870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10652760"/>
            <a:ext cx="456971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Technical: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Java / C++ with MySQL / SQLite on a standard laptop (4 GB RAM, 10 GB storage).</a:t>
            </a:r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Economic: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stack (Python / Java, MySQL / SQLite, VS Code / Eclipse) keeps cost minimal.</a:t>
            </a:r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Operational: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User-friendly for admins and users; easy to maintain and scale.</a:t>
            </a:r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Schedule: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 completion within the semester timeline.</a:t>
            </a:r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Front-End: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UI for Admin &amp; Users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Back-End: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Java / C++ with API-based communication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Database: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SQLite (relational model)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Platform: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Linux</a:t>
            </a:r>
          </a:p>
          <a:p>
            <a:pPr marL="228600" indent="-228600">
              <a:spcAft>
                <a:spcPts val="4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Tools: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/ Eclipse, Web Browser</a:t>
            </a:r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pic>
        <p:nvPicPr>
          <p:cNvPr id="32" name="Live scorer screenshot" descr="Live scorer screenshot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681274" y="10665600"/>
            <a:ext cx="2096277" cy="1239851"/>
          </a:xfrm>
          <a:prstGeom prst="rect">
            <a:avLst/>
          </a:prstGeom>
          <a:ln w="6350">
            <a:solidFill>
              <a:srgbClr val="CBD5E1"/>
            </a:solidFill>
          </a:ln>
        </p:spPr>
      </p:pic>
      <p:sp>
        <p:nvSpPr>
          <p:cNvPr id="201" name="Live score caption"/>
          <p:cNvSpPr txBox="1"/>
          <p:nvPr/>
        </p:nvSpPr>
        <p:spPr>
          <a:xfrm>
            <a:off x="5681274" y="12015451"/>
            <a:ext cx="2096277" cy="33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en-US" sz="1100" b="1" dirty="0">
                <a:solidFill>
                  <a:srgbClr val="0F766E"/>
                </a:solidFill>
                <a:latin typeface="Calibri"/>
              </a:rPr>
              <a:t>Live scorer: ball-by-ball score entry</a:t>
            </a:r>
          </a:p>
        </p:txBody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0F766E"/>
            </a:solidFill>
            <a:prstDash val="dash"/>
          </a:ln>
        </p:spPr>
      </p:sp>
      <p:pic>
        <p:nvPicPr>
          <p:cNvPr id="34" name="Database design screenshot" descr="Database design screenshot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34711" y="10665600"/>
            <a:ext cx="2096277" cy="1243331"/>
          </a:xfrm>
          <a:prstGeom prst="rect">
            <a:avLst/>
          </a:prstGeom>
          <a:ln w="6350">
            <a:solidFill>
              <a:srgbClr val="CBD5E1"/>
            </a:solidFill>
          </a:ln>
        </p:spPr>
      </p:pic>
      <p:sp>
        <p:nvSpPr>
          <p:cNvPr id="202" name="Database d caption"/>
          <p:cNvSpPr txBox="1"/>
          <p:nvPr/>
        </p:nvSpPr>
        <p:spPr>
          <a:xfrm>
            <a:off x="8034711" y="12018931"/>
            <a:ext cx="2096277" cy="33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/>
            <a:r>
              <a:rPr lang="en-US" sz="1100" b="1" dirty="0">
                <a:solidFill>
                  <a:srgbClr val="0F766E"/>
                </a:solidFill>
                <a:latin typeface="Calibri"/>
              </a:rPr>
              <a:t>Database design: 13-table schema</a:t>
            </a:r>
          </a:p>
        </p:txBody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points, wins, losses &amp; NRR calculated automatically</a:t>
            </a:r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with validation on teams, players, matches &amp; scores</a:t>
            </a:r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efficient management of teams, players, matches and scores</a:t>
            </a:r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work and errors; improves accuracy and accessibility</a:t>
            </a:r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score updates and match notifications</a:t>
            </a:r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statistics and performance analytics</a:t>
            </a:r>
          </a:p>
          <a:p>
            <a:pPr marL="228600" indent="-2286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fans and team managers</a:t>
            </a:r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References: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MySQL 8.0 Reference Manual, dev.mysql.com/doc   [2] SQLite Documentation, sqlite.org/docs.html   [3] Python Documentation, docs.python.org</a:t>
            </a:r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pic>
        <p:nvPicPr>
          <p:cNvPr id="46" name="GitHub QR" descr="QR code linking to the GitHub repository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45188" y="14304640"/>
            <a:ext cx="742960" cy="742960"/>
          </a:xfrm>
          <a:prstGeom prst="rect">
            <a:avLst/>
          </a:prstGeom>
        </p:spPr>
      </p:pic>
      <p:pic>
        <p:nvPicPr>
          <p:cNvPr id="201" name="KLH Logo" descr="KLH University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624" y="743514"/>
            <a:ext cx="1170432" cy="433212"/>
          </a:xfrm>
          <a:prstGeom prst="rect">
            <a:avLst/>
          </a:prstGeom>
        </p:spPr>
      </p:pic>
      <p:sp>
        <p:nvSpPr>
          <p:cNvPr id="202" name="Arch Header 1"/>
          <p:cNvSpPr/>
          <p:nvPr/>
        </p:nvSpPr>
        <p:spPr>
          <a:xfrm>
            <a:off x="5715000" y="5065776"/>
            <a:ext cx="914400" cy="411480"/>
          </a:xfrm>
          <a:prstGeom prst="rect">
            <a:avLst/>
          </a:prstGeom>
          <a:solidFill>
            <a:srgbClr val="6D28D9"/>
          </a:solidFill>
          <a:ln w="9525">
            <a:solidFill>
              <a:srgbClr val="6D28D9"/>
            </a:solidFill>
            <a:prstDash val="solid"/>
          </a:ln>
        </p:spPr>
        <p:txBody>
          <a:bodyPr wrap="square" lIns="36576" tIns="18288" rIns="36576" bIns="18288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</a:p>
        </p:txBody>
      </p:sp>
      <p:sp>
        <p:nvSpPr>
          <p:cNvPr id="203" name="Arch Body 1"/>
          <p:cNvSpPr/>
          <p:nvPr/>
        </p:nvSpPr>
        <p:spPr>
          <a:xfrm>
            <a:off x="5715000" y="5477256"/>
            <a:ext cx="914400" cy="1170432"/>
          </a:xfrm>
          <a:prstGeom prst="rect">
            <a:avLst/>
          </a:prstGeom>
          <a:solidFill>
            <a:srgbClr val="F5F3FF"/>
          </a:solidFill>
          <a:ln w="9525">
            <a:solidFill>
              <a:srgbClr val="C4B5FD"/>
            </a:solidFill>
            <a:prstDash val="solid"/>
          </a:ln>
        </p:spPr>
        <p:txBody>
          <a:bodyPr wrap="square" lIns="54864" tIns="54864" rIns="45720" bIns="27432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Admin: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tournament data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User: </a:t>
            </a: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fixtures &amp; standings</a:t>
            </a:r>
          </a:p>
        </p:txBody>
      </p:sp>
      <p:sp>
        <p:nvSpPr>
          <p:cNvPr id="204" name="Arch Arrow 1"/>
          <p:cNvSpPr/>
          <p:nvPr/>
        </p:nvSpPr>
        <p:spPr>
          <a:xfrm>
            <a:off x="6656832" y="5943600"/>
            <a:ext cx="192024" cy="237744"/>
          </a:xfrm>
          <a:prstGeom prst="rightArrow">
            <a:avLst/>
          </a:prstGeom>
          <a:solidFill>
            <a:srgbClr val="6D28D9"/>
          </a:solidFill>
          <a:ln>
            <a:noFill/>
          </a:ln>
        </p:spPr>
      </p:sp>
      <p:sp>
        <p:nvSpPr>
          <p:cNvPr id="205" name="Arch Header 2"/>
          <p:cNvSpPr/>
          <p:nvPr/>
        </p:nvSpPr>
        <p:spPr>
          <a:xfrm>
            <a:off x="6876288" y="5065776"/>
            <a:ext cx="914400" cy="411480"/>
          </a:xfrm>
          <a:prstGeom prst="rect">
            <a:avLst/>
          </a:prstGeom>
          <a:solidFill>
            <a:srgbClr val="6D28D9"/>
          </a:solidFill>
          <a:ln w="9525">
            <a:solidFill>
              <a:srgbClr val="6D28D9"/>
            </a:solidFill>
            <a:prstDash val="solid"/>
          </a:ln>
        </p:spPr>
        <p:txBody>
          <a:bodyPr wrap="square" lIns="36576" tIns="18288" rIns="36576" bIns="18288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</a:p>
        </p:txBody>
      </p:sp>
      <p:sp>
        <p:nvSpPr>
          <p:cNvPr id="206" name="Arch Body 2"/>
          <p:cNvSpPr/>
          <p:nvPr/>
        </p:nvSpPr>
        <p:spPr>
          <a:xfrm>
            <a:off x="6876288" y="5477256"/>
            <a:ext cx="914400" cy="1170432"/>
          </a:xfrm>
          <a:prstGeom prst="rect">
            <a:avLst/>
          </a:prstGeom>
          <a:solidFill>
            <a:srgbClr val="F5F3FF"/>
          </a:solidFill>
          <a:ln w="9525">
            <a:solidFill>
              <a:srgbClr val="C4B5FD"/>
            </a:solidFill>
            <a:prstDash val="solid"/>
          </a:ln>
        </p:spPr>
        <p:txBody>
          <a:bodyPr wrap="square" lIns="54864" tIns="54864" rIns="45720" bIns="27432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user interface for Admin &amp; Users to interact with the system</a:t>
            </a:r>
          </a:p>
        </p:txBody>
      </p:sp>
      <p:sp>
        <p:nvSpPr>
          <p:cNvPr id="207" name="Arch Arrow 2"/>
          <p:cNvSpPr/>
          <p:nvPr/>
        </p:nvSpPr>
        <p:spPr>
          <a:xfrm>
            <a:off x="7818120" y="5943600"/>
            <a:ext cx="192024" cy="237744"/>
          </a:xfrm>
          <a:prstGeom prst="rightArrow">
            <a:avLst/>
          </a:prstGeom>
          <a:solidFill>
            <a:srgbClr val="6D28D9"/>
          </a:solidFill>
          <a:ln>
            <a:noFill/>
          </a:ln>
        </p:spPr>
      </p:sp>
      <p:sp>
        <p:nvSpPr>
          <p:cNvPr id="208" name="Arch Header 3"/>
          <p:cNvSpPr/>
          <p:nvPr/>
        </p:nvSpPr>
        <p:spPr>
          <a:xfrm>
            <a:off x="8037576" y="5065776"/>
            <a:ext cx="914400" cy="411480"/>
          </a:xfrm>
          <a:prstGeom prst="rect">
            <a:avLst/>
          </a:prstGeom>
          <a:solidFill>
            <a:srgbClr val="6D28D9"/>
          </a:solidFill>
          <a:ln w="9525">
            <a:solidFill>
              <a:srgbClr val="6D28D9"/>
            </a:solidFill>
            <a:prstDash val="solid"/>
          </a:ln>
        </p:spPr>
        <p:txBody>
          <a:bodyPr wrap="square" lIns="36576" tIns="18288" rIns="36576" bIns="18288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 Layer</a:t>
            </a:r>
          </a:p>
        </p:txBody>
      </p:sp>
      <p:sp>
        <p:nvSpPr>
          <p:cNvPr id="209" name="Arch Body 3"/>
          <p:cNvSpPr/>
          <p:nvPr/>
        </p:nvSpPr>
        <p:spPr>
          <a:xfrm>
            <a:off x="8037576" y="5477256"/>
            <a:ext cx="914400" cy="1170432"/>
          </a:xfrm>
          <a:prstGeom prst="rect">
            <a:avLst/>
          </a:prstGeom>
          <a:solidFill>
            <a:srgbClr val="F5F3FF"/>
          </a:solidFill>
          <a:ln w="9525">
            <a:solidFill>
              <a:srgbClr val="C4B5FD"/>
            </a:solidFill>
            <a:prstDash val="solid"/>
          </a:ln>
        </p:spPr>
        <p:txBody>
          <a:bodyPr wrap="square" lIns="54864" tIns="54864" rIns="45720" bIns="27432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teams, matches, scores, results &amp; points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data, calculates NRR &amp; rankings</a:t>
            </a:r>
          </a:p>
        </p:txBody>
      </p:sp>
      <p:sp>
        <p:nvSpPr>
          <p:cNvPr id="210" name="Arch Arrow 3"/>
          <p:cNvSpPr/>
          <p:nvPr/>
        </p:nvSpPr>
        <p:spPr>
          <a:xfrm>
            <a:off x="8979408" y="5943600"/>
            <a:ext cx="192024" cy="237744"/>
          </a:xfrm>
          <a:prstGeom prst="rightArrow">
            <a:avLst/>
          </a:prstGeom>
          <a:solidFill>
            <a:srgbClr val="6D28D9"/>
          </a:solidFill>
          <a:ln>
            <a:noFill/>
          </a:ln>
        </p:spPr>
      </p:sp>
      <p:sp>
        <p:nvSpPr>
          <p:cNvPr id="211" name="Arch Header 4"/>
          <p:cNvSpPr/>
          <p:nvPr/>
        </p:nvSpPr>
        <p:spPr>
          <a:xfrm>
            <a:off x="9198864" y="5065776"/>
            <a:ext cx="914400" cy="411480"/>
          </a:xfrm>
          <a:prstGeom prst="rect">
            <a:avLst/>
          </a:prstGeom>
          <a:solidFill>
            <a:srgbClr val="6D28D9"/>
          </a:solidFill>
          <a:ln w="9525">
            <a:solidFill>
              <a:srgbClr val="6D28D9"/>
            </a:solidFill>
            <a:prstDash val="solid"/>
          </a:ln>
        </p:spPr>
        <p:txBody>
          <a:bodyPr wrap="square" lIns="36576" tIns="18288" rIns="36576" bIns="18288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</a:p>
        </p:txBody>
      </p:sp>
      <p:sp>
        <p:nvSpPr>
          <p:cNvPr id="212" name="Arch Body 4"/>
          <p:cNvSpPr/>
          <p:nvPr/>
        </p:nvSpPr>
        <p:spPr>
          <a:xfrm>
            <a:off x="9198864" y="5477256"/>
            <a:ext cx="914400" cy="1170432"/>
          </a:xfrm>
          <a:prstGeom prst="rect">
            <a:avLst/>
          </a:prstGeom>
          <a:solidFill>
            <a:srgbClr val="F5F3FF"/>
          </a:solidFill>
          <a:ln w="9525">
            <a:solidFill>
              <a:srgbClr val="C4B5FD"/>
            </a:solidFill>
            <a:prstDash val="solid"/>
          </a:ln>
        </p:spPr>
        <p:txBody>
          <a:bodyPr wrap="square" lIns="54864" tIns="54864" rIns="45720" bIns="27432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teams, players, matches, scores &amp; tournament data</a:t>
            </a:r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SQLite</a:t>
            </a:r>
          </a:p>
        </p:txBody>
      </p:sp>
      <p:sp>
        <p:nvSpPr>
          <p:cNvPr id="213" name="Arch Benefits"/>
          <p:cNvSpPr txBox="1"/>
          <p:nvPr/>
        </p:nvSpPr>
        <p:spPr>
          <a:xfrm>
            <a:off x="5715000" y="6702552"/>
            <a:ext cx="439826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Flow: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→ User Interface → Application Logic → Database</a:t>
            </a:r>
          </a:p>
          <a:p>
            <a:pPr algn="ctr" indent="0" marL="0">
              <a:spcAft>
                <a:spcPts val="0"/>
              </a:spcAft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Benefits: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data management, security and easy maintenance</a:t>
            </a:r>
          </a:p>
        </p:txBody>
      </p:sp>
      <p:sp>
        <p:nvSpPr>
          <p:cNvPr id="214" name="ER Player Header"/>
          <p:cNvSpPr/>
          <p:nvPr/>
        </p:nvSpPr>
        <p:spPr>
          <a:xfrm>
            <a:off x="5696712" y="7936992"/>
            <a:ext cx="914400" cy="173736"/>
          </a:xfrm>
          <a:prstGeom prst="rect">
            <a:avLst/>
          </a:prstGeom>
          <a:solidFill>
            <a:srgbClr val="C2410C"/>
          </a:solidFill>
          <a:ln w="9525">
            <a:solidFill>
              <a:srgbClr val="C2410C"/>
            </a:solidFill>
            <a:prstDash val="solid"/>
          </a:ln>
        </p:spPr>
        <p:txBody>
          <a:bodyPr wrap="square" lIns="27432" tIns="9144" rIns="27432" bIns="9144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</a:t>
            </a:r>
          </a:p>
        </p:txBody>
      </p:sp>
      <p:sp>
        <p:nvSpPr>
          <p:cNvPr id="215" name="ER Player Body"/>
          <p:cNvSpPr/>
          <p:nvPr/>
        </p:nvSpPr>
        <p:spPr>
          <a:xfrm>
            <a:off x="5696712" y="8110728"/>
            <a:ext cx="914400" cy="603504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  <p:txBody>
          <a:bodyPr wrap="square" lIns="45720" tIns="27432" rIns="27432" bIns="18288" rtlCol="0" anchor="t"/>
          <a:lstStyle/>
          <a:p>
            <a:pPr indent="0" marL="0">
              <a:spcAft>
                <a:spcPts val="0"/>
              </a:spcAft>
              <a:buNone/>
            </a:pPr>
            <a:r>
              <a:rPr lang="en-US" sz="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PK </a:t>
            </a: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player_id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FK </a:t>
            </a: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team_id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</a:p>
        </p:txBody>
      </p:sp>
      <p:sp>
        <p:nvSpPr>
          <p:cNvPr id="216" name="ER Team Header"/>
          <p:cNvSpPr/>
          <p:nvPr/>
        </p:nvSpPr>
        <p:spPr>
          <a:xfrm>
            <a:off x="6867144" y="7936992"/>
            <a:ext cx="914400" cy="173736"/>
          </a:xfrm>
          <a:prstGeom prst="rect">
            <a:avLst/>
          </a:prstGeom>
          <a:solidFill>
            <a:srgbClr val="C2410C"/>
          </a:solidFill>
          <a:ln w="9525">
            <a:solidFill>
              <a:srgbClr val="C2410C"/>
            </a:solidFill>
            <a:prstDash val="solid"/>
          </a:ln>
        </p:spPr>
        <p:txBody>
          <a:bodyPr wrap="square" lIns="27432" tIns="9144" rIns="27432" bIns="9144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</a:p>
        </p:txBody>
      </p:sp>
      <p:sp>
        <p:nvSpPr>
          <p:cNvPr id="217" name="ER Team Body"/>
          <p:cNvSpPr/>
          <p:nvPr/>
        </p:nvSpPr>
        <p:spPr>
          <a:xfrm>
            <a:off x="6867144" y="8110728"/>
            <a:ext cx="914400" cy="603504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  <p:txBody>
          <a:bodyPr wrap="square" lIns="45720" tIns="27432" rIns="27432" bIns="18288" rtlCol="0" anchor="t"/>
          <a:lstStyle/>
          <a:p>
            <a:pPr indent="0" marL="0">
              <a:spcAft>
                <a:spcPts val="0"/>
              </a:spcAft>
              <a:buNone/>
            </a:pPr>
            <a:r>
              <a:rPr lang="en-US" sz="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PK </a:t>
            </a: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team_id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team_name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</a:t>
            </a:r>
          </a:p>
        </p:txBody>
      </p:sp>
      <p:sp>
        <p:nvSpPr>
          <p:cNvPr id="218" name="ER Match Header"/>
          <p:cNvSpPr/>
          <p:nvPr/>
        </p:nvSpPr>
        <p:spPr>
          <a:xfrm>
            <a:off x="8037576" y="7936992"/>
            <a:ext cx="914400" cy="173736"/>
          </a:xfrm>
          <a:prstGeom prst="rect">
            <a:avLst/>
          </a:prstGeom>
          <a:solidFill>
            <a:srgbClr val="C2410C"/>
          </a:solidFill>
          <a:ln w="9525">
            <a:solidFill>
              <a:srgbClr val="C2410C"/>
            </a:solidFill>
            <a:prstDash val="solid"/>
          </a:ln>
        </p:spPr>
        <p:txBody>
          <a:bodyPr wrap="square" lIns="27432" tIns="9144" rIns="27432" bIns="9144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</a:p>
        </p:txBody>
      </p:sp>
      <p:sp>
        <p:nvSpPr>
          <p:cNvPr id="219" name="ER Match Body"/>
          <p:cNvSpPr/>
          <p:nvPr/>
        </p:nvSpPr>
        <p:spPr>
          <a:xfrm>
            <a:off x="8037576" y="8110728"/>
            <a:ext cx="914400" cy="603504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  <p:txBody>
          <a:bodyPr wrap="square" lIns="45720" tIns="27432" rIns="27432" bIns="18288" rtlCol="0" anchor="t"/>
          <a:lstStyle/>
          <a:p>
            <a:pPr indent="0" marL="0">
              <a:spcAft>
                <a:spcPts val="0"/>
              </a:spcAft>
              <a:buNone/>
            </a:pPr>
            <a:r>
              <a:rPr lang="en-US" sz="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PK </a:t>
            </a: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match_id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FK </a:t>
            </a: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tournament_id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FK </a:t>
            </a: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venue_id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FK </a:t>
            </a: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team1/team2_id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match_date, result</a:t>
            </a:r>
          </a:p>
        </p:txBody>
      </p:sp>
      <p:sp>
        <p:nvSpPr>
          <p:cNvPr id="220" name="ER Score Header"/>
          <p:cNvSpPr/>
          <p:nvPr/>
        </p:nvSpPr>
        <p:spPr>
          <a:xfrm>
            <a:off x="9208008" y="7936992"/>
            <a:ext cx="914400" cy="173736"/>
          </a:xfrm>
          <a:prstGeom prst="rect">
            <a:avLst/>
          </a:prstGeom>
          <a:solidFill>
            <a:srgbClr val="C2410C"/>
          </a:solidFill>
          <a:ln w="9525">
            <a:solidFill>
              <a:srgbClr val="C2410C"/>
            </a:solidFill>
            <a:prstDash val="solid"/>
          </a:ln>
        </p:spPr>
        <p:txBody>
          <a:bodyPr wrap="square" lIns="27432" tIns="9144" rIns="27432" bIns="9144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</a:p>
        </p:txBody>
      </p:sp>
      <p:sp>
        <p:nvSpPr>
          <p:cNvPr id="221" name="ER Score Body"/>
          <p:cNvSpPr/>
          <p:nvPr/>
        </p:nvSpPr>
        <p:spPr>
          <a:xfrm>
            <a:off x="9208008" y="8110728"/>
            <a:ext cx="914400" cy="603504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  <p:txBody>
          <a:bodyPr wrap="square" lIns="45720" tIns="27432" rIns="27432" bIns="18288" rtlCol="0" anchor="t"/>
          <a:lstStyle/>
          <a:p>
            <a:pPr indent="0" marL="0">
              <a:spcAft>
                <a:spcPts val="0"/>
              </a:spcAft>
              <a:buNone/>
            </a:pPr>
            <a:r>
              <a:rPr lang="en-US" sz="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PK </a:t>
            </a: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score_id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FK </a:t>
            </a: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match_id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runs, wickets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overs, innings</a:t>
            </a:r>
          </a:p>
        </p:txBody>
      </p:sp>
      <p:sp>
        <p:nvSpPr>
          <p:cNvPr id="222" name="ER Points Table Header"/>
          <p:cNvSpPr/>
          <p:nvPr/>
        </p:nvSpPr>
        <p:spPr>
          <a:xfrm>
            <a:off x="6867144" y="8933688"/>
            <a:ext cx="914400" cy="173736"/>
          </a:xfrm>
          <a:prstGeom prst="rect">
            <a:avLst/>
          </a:prstGeom>
          <a:solidFill>
            <a:srgbClr val="C2410C"/>
          </a:solidFill>
          <a:ln w="9525">
            <a:solidFill>
              <a:srgbClr val="C2410C"/>
            </a:solidFill>
            <a:prstDash val="solid"/>
          </a:ln>
        </p:spPr>
        <p:txBody>
          <a:bodyPr wrap="square" lIns="27432" tIns="9144" rIns="27432" bIns="9144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Table</a:t>
            </a:r>
          </a:p>
        </p:txBody>
      </p:sp>
      <p:sp>
        <p:nvSpPr>
          <p:cNvPr id="223" name="ER Points Table Body"/>
          <p:cNvSpPr/>
          <p:nvPr/>
        </p:nvSpPr>
        <p:spPr>
          <a:xfrm>
            <a:off x="6867144" y="9107424"/>
            <a:ext cx="914400" cy="603504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  <p:txBody>
          <a:bodyPr wrap="square" lIns="45720" tIns="27432" rIns="27432" bIns="18288" rtlCol="0" anchor="t"/>
          <a:lstStyle/>
          <a:p>
            <a:pPr indent="0" marL="0">
              <a:spcAft>
                <a:spcPts val="0"/>
              </a:spcAft>
              <a:buNone/>
            </a:pPr>
            <a:r>
              <a:rPr lang="en-US" sz="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FK </a:t>
            </a: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tournament_id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FK </a:t>
            </a: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team_id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played, won, lost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NRR</a:t>
            </a:r>
          </a:p>
        </p:txBody>
      </p:sp>
      <p:sp>
        <p:nvSpPr>
          <p:cNvPr id="224" name="ER Tournament Header"/>
          <p:cNvSpPr/>
          <p:nvPr/>
        </p:nvSpPr>
        <p:spPr>
          <a:xfrm>
            <a:off x="8037576" y="8933688"/>
            <a:ext cx="914400" cy="173736"/>
          </a:xfrm>
          <a:prstGeom prst="rect">
            <a:avLst/>
          </a:prstGeom>
          <a:solidFill>
            <a:srgbClr val="C2410C"/>
          </a:solidFill>
          <a:ln w="9525">
            <a:solidFill>
              <a:srgbClr val="C2410C"/>
            </a:solidFill>
            <a:prstDash val="solid"/>
          </a:ln>
        </p:spPr>
        <p:txBody>
          <a:bodyPr wrap="square" lIns="27432" tIns="9144" rIns="27432" bIns="9144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</a:t>
            </a:r>
          </a:p>
        </p:txBody>
      </p:sp>
      <p:sp>
        <p:nvSpPr>
          <p:cNvPr id="225" name="ER Tournament Body"/>
          <p:cNvSpPr/>
          <p:nvPr/>
        </p:nvSpPr>
        <p:spPr>
          <a:xfrm>
            <a:off x="8037576" y="9107424"/>
            <a:ext cx="914400" cy="603504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  <p:txBody>
          <a:bodyPr wrap="square" lIns="45720" tIns="27432" rIns="27432" bIns="18288" rtlCol="0" anchor="t"/>
          <a:lstStyle/>
          <a:p>
            <a:pPr indent="0" marL="0">
              <a:spcAft>
                <a:spcPts val="0"/>
              </a:spcAft>
              <a:buNone/>
            </a:pPr>
            <a:r>
              <a:rPr lang="en-US" sz="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PK </a:t>
            </a: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tournament_id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</a:p>
        </p:txBody>
      </p:sp>
      <p:sp>
        <p:nvSpPr>
          <p:cNvPr id="226" name="ER Venue Header"/>
          <p:cNvSpPr/>
          <p:nvPr/>
        </p:nvSpPr>
        <p:spPr>
          <a:xfrm>
            <a:off x="9208008" y="8933688"/>
            <a:ext cx="914400" cy="173736"/>
          </a:xfrm>
          <a:prstGeom prst="rect">
            <a:avLst/>
          </a:prstGeom>
          <a:solidFill>
            <a:srgbClr val="C2410C"/>
          </a:solidFill>
          <a:ln w="9525">
            <a:solidFill>
              <a:srgbClr val="C2410C"/>
            </a:solidFill>
            <a:prstDash val="solid"/>
          </a:ln>
        </p:spPr>
        <p:txBody>
          <a:bodyPr wrap="square" lIns="27432" tIns="9144" rIns="27432" bIns="9144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</a:p>
        </p:txBody>
      </p:sp>
      <p:sp>
        <p:nvSpPr>
          <p:cNvPr id="227" name="ER Venue Body"/>
          <p:cNvSpPr/>
          <p:nvPr/>
        </p:nvSpPr>
        <p:spPr>
          <a:xfrm>
            <a:off x="9208008" y="9107424"/>
            <a:ext cx="914400" cy="603504"/>
          </a:xfrm>
          <a:prstGeom prst="rect">
            <a:avLst/>
          </a:prstGeom>
          <a:solidFill>
            <a:srgbClr val="FFF7ED"/>
          </a:solidFill>
          <a:ln w="9525">
            <a:solidFill>
              <a:srgbClr val="FDBA74"/>
            </a:solidFill>
            <a:prstDash val="solid"/>
          </a:ln>
        </p:spPr>
        <p:txBody>
          <a:bodyPr wrap="square" lIns="45720" tIns="27432" rIns="27432" bIns="18288" rtlCol="0" anchor="t"/>
          <a:lstStyle/>
          <a:p>
            <a:pPr indent="0" marL="0">
              <a:spcAft>
                <a:spcPts val="0"/>
              </a:spcAft>
              <a:buNone/>
            </a:pPr>
            <a:r>
              <a:rPr lang="en-US" sz="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PK </a:t>
            </a: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venue_id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venue_name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</a:p>
        </p:txBody>
      </p:sp>
      <p:sp>
        <p:nvSpPr>
          <p:cNvPr id="228" name="ER Legend"/>
          <p:cNvSpPr/>
          <p:nvPr/>
        </p:nvSpPr>
        <p:spPr>
          <a:xfrm>
            <a:off x="5696712" y="8933688"/>
            <a:ext cx="914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FDBA74"/>
            </a:solidFill>
            <a:prstDash val="solid"/>
          </a:ln>
        </p:spPr>
        <p:txBody>
          <a:bodyPr wrap="square" lIns="45720" tIns="27432" rIns="27432" bIns="27432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PK </a:t>
            </a: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FK </a:t>
            </a: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 : N </a:t>
            </a: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</a:t>
            </a:r>
          </a:p>
          <a:p>
            <a:pPr indent="0" marL="0">
              <a:spcAft>
                <a:spcPts val="0"/>
              </a:spcAft>
              <a:buNone/>
            </a:pPr>
            <a:r>
              <a:rPr lang="en-US" sz="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 : M </a:t>
            </a:r>
            <a:r>
              <a:rPr lang="en-US" sz="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</a:t>
            </a:r>
          </a:p>
        </p:txBody>
      </p:sp>
      <p:cxnSp>
        <p:nvCxnSpPr>
          <p:cNvPr id="229" name="ER Line Player-Team"/>
          <p:cNvCxnSpPr/>
          <p:nvPr/>
        </p:nvCxnSpPr>
        <p:spPr>
          <a:xfrm>
            <a:off x="6611112" y="8325612"/>
            <a:ext cx="256032" cy="0"/>
          </a:xfrm>
          <a:prstGeom prst="line">
            <a:avLst/>
          </a:prstGeom>
          <a:ln w="12700">
            <a:solidFill>
              <a:srgbClr val="C2410C"/>
            </a:solidFill>
          </a:ln>
        </p:spPr>
      </p:cxnSp>
      <p:sp>
        <p:nvSpPr>
          <p:cNvPr id="230" name="ER Card Player-Team L"/>
          <p:cNvSpPr txBox="1"/>
          <p:nvPr/>
        </p:nvSpPr>
        <p:spPr>
          <a:xfrm>
            <a:off x="6620256" y="8188452"/>
            <a:ext cx="109728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7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</a:p>
        </p:txBody>
      </p:sp>
      <p:sp>
        <p:nvSpPr>
          <p:cNvPr id="231" name="ER Card Player-Team R"/>
          <p:cNvSpPr txBox="1"/>
          <p:nvPr/>
        </p:nvSpPr>
        <p:spPr>
          <a:xfrm>
            <a:off x="6748272" y="8188452"/>
            <a:ext cx="109728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7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cxnSp>
        <p:nvCxnSpPr>
          <p:cNvPr id="232" name="ER Line Team-Match"/>
          <p:cNvCxnSpPr/>
          <p:nvPr/>
        </p:nvCxnSpPr>
        <p:spPr>
          <a:xfrm>
            <a:off x="7781544" y="8325612"/>
            <a:ext cx="256032" cy="0"/>
          </a:xfrm>
          <a:prstGeom prst="line">
            <a:avLst/>
          </a:prstGeom>
          <a:ln w="12700">
            <a:solidFill>
              <a:srgbClr val="C2410C"/>
            </a:solidFill>
          </a:ln>
        </p:spPr>
      </p:cxnSp>
      <p:sp>
        <p:nvSpPr>
          <p:cNvPr id="233" name="ER Card Team-Match L"/>
          <p:cNvSpPr txBox="1"/>
          <p:nvPr/>
        </p:nvSpPr>
        <p:spPr>
          <a:xfrm>
            <a:off x="7790688" y="8188452"/>
            <a:ext cx="109728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7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</a:p>
        </p:txBody>
      </p:sp>
      <p:sp>
        <p:nvSpPr>
          <p:cNvPr id="234" name="ER Card Team-Match R"/>
          <p:cNvSpPr txBox="1"/>
          <p:nvPr/>
        </p:nvSpPr>
        <p:spPr>
          <a:xfrm>
            <a:off x="7918704" y="8188452"/>
            <a:ext cx="109728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7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</a:p>
        </p:txBody>
      </p:sp>
      <p:cxnSp>
        <p:nvCxnSpPr>
          <p:cNvPr id="235" name="ER Line Match-Score"/>
          <p:cNvCxnSpPr/>
          <p:nvPr/>
        </p:nvCxnSpPr>
        <p:spPr>
          <a:xfrm>
            <a:off x="8951976" y="8325612"/>
            <a:ext cx="256032" cy="0"/>
          </a:xfrm>
          <a:prstGeom prst="line">
            <a:avLst/>
          </a:prstGeom>
          <a:ln w="12700">
            <a:solidFill>
              <a:srgbClr val="C2410C"/>
            </a:solidFill>
          </a:ln>
        </p:spPr>
      </p:cxnSp>
      <p:sp>
        <p:nvSpPr>
          <p:cNvPr id="236" name="ER Card Match-Score L"/>
          <p:cNvSpPr txBox="1"/>
          <p:nvPr/>
        </p:nvSpPr>
        <p:spPr>
          <a:xfrm>
            <a:off x="8961120" y="8188452"/>
            <a:ext cx="109728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7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237" name="ER Card Match-Score R"/>
          <p:cNvSpPr txBox="1"/>
          <p:nvPr/>
        </p:nvSpPr>
        <p:spPr>
          <a:xfrm>
            <a:off x="9089136" y="8188452"/>
            <a:ext cx="109728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7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</a:p>
        </p:txBody>
      </p:sp>
      <p:cxnSp>
        <p:nvCxnSpPr>
          <p:cNvPr id="238" name="ER Line Team-Points"/>
          <p:cNvCxnSpPr/>
          <p:nvPr/>
        </p:nvCxnSpPr>
        <p:spPr>
          <a:xfrm>
            <a:off x="7324344" y="8714232"/>
            <a:ext cx="0" cy="219456"/>
          </a:xfrm>
          <a:prstGeom prst="line">
            <a:avLst/>
          </a:prstGeom>
          <a:ln w="12700">
            <a:solidFill>
              <a:srgbClr val="C2410C"/>
            </a:solidFill>
          </a:ln>
        </p:spPr>
      </p:cxnSp>
      <p:sp>
        <p:nvSpPr>
          <p:cNvPr id="239" name="ER Card Team-Points T"/>
          <p:cNvSpPr txBox="1"/>
          <p:nvPr/>
        </p:nvSpPr>
        <p:spPr>
          <a:xfrm>
            <a:off x="7342632" y="8709660"/>
            <a:ext cx="109728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7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240" name="ER Card Team-Points B"/>
          <p:cNvSpPr txBox="1"/>
          <p:nvPr/>
        </p:nvSpPr>
        <p:spPr>
          <a:xfrm>
            <a:off x="7342632" y="8819388"/>
            <a:ext cx="109728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7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</a:p>
        </p:txBody>
      </p:sp>
      <p:cxnSp>
        <p:nvCxnSpPr>
          <p:cNvPr id="241" name="ER Line Match-Tournament"/>
          <p:cNvCxnSpPr/>
          <p:nvPr/>
        </p:nvCxnSpPr>
        <p:spPr>
          <a:xfrm>
            <a:off x="8311896" y="8714232"/>
            <a:ext cx="0" cy="219456"/>
          </a:xfrm>
          <a:prstGeom prst="line">
            <a:avLst/>
          </a:prstGeom>
          <a:ln w="12700">
            <a:solidFill>
              <a:srgbClr val="C2410C"/>
            </a:solidFill>
          </a:ln>
        </p:spPr>
      </p:cxnSp>
      <p:sp>
        <p:nvSpPr>
          <p:cNvPr id="242" name="ER Card Match-Tournament T"/>
          <p:cNvSpPr txBox="1"/>
          <p:nvPr/>
        </p:nvSpPr>
        <p:spPr>
          <a:xfrm>
            <a:off x="8330184" y="8709660"/>
            <a:ext cx="109728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7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</a:p>
        </p:txBody>
      </p:sp>
      <p:sp>
        <p:nvSpPr>
          <p:cNvPr id="243" name="ER Card Match-Tournament B"/>
          <p:cNvSpPr txBox="1"/>
          <p:nvPr/>
        </p:nvSpPr>
        <p:spPr>
          <a:xfrm>
            <a:off x="8330184" y="8819388"/>
            <a:ext cx="109728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7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cxnSp>
        <p:nvCxnSpPr>
          <p:cNvPr id="244" name="ER Line Tournament-Points"/>
          <p:cNvCxnSpPr/>
          <p:nvPr/>
        </p:nvCxnSpPr>
        <p:spPr>
          <a:xfrm>
            <a:off x="7781544" y="9322308"/>
            <a:ext cx="256032" cy="0"/>
          </a:xfrm>
          <a:prstGeom prst="line">
            <a:avLst/>
          </a:prstGeom>
          <a:ln w="12700">
            <a:solidFill>
              <a:srgbClr val="C2410C"/>
            </a:solidFill>
          </a:ln>
        </p:spPr>
      </p:cxnSp>
      <p:sp>
        <p:nvSpPr>
          <p:cNvPr id="245" name="ER Card Tournament-Points L"/>
          <p:cNvSpPr txBox="1"/>
          <p:nvPr/>
        </p:nvSpPr>
        <p:spPr>
          <a:xfrm>
            <a:off x="7790688" y="9185148"/>
            <a:ext cx="109728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7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</a:p>
        </p:txBody>
      </p:sp>
      <p:sp>
        <p:nvSpPr>
          <p:cNvPr id="246" name="ER Card Tournament-Points R"/>
          <p:cNvSpPr txBox="1"/>
          <p:nvPr/>
        </p:nvSpPr>
        <p:spPr>
          <a:xfrm>
            <a:off x="7918704" y="9185148"/>
            <a:ext cx="109728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7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cxnSp>
        <p:nvCxnSpPr>
          <p:cNvPr id="247" name="ER Line Match-Venue a"/>
          <p:cNvCxnSpPr/>
          <p:nvPr/>
        </p:nvCxnSpPr>
        <p:spPr>
          <a:xfrm>
            <a:off x="8769096" y="8714232"/>
            <a:ext cx="0" cy="109728"/>
          </a:xfrm>
          <a:prstGeom prst="line">
            <a:avLst/>
          </a:prstGeom>
          <a:ln w="12700">
            <a:solidFill>
              <a:srgbClr val="C2410C"/>
            </a:solidFill>
          </a:ln>
        </p:spPr>
      </p:cxnSp>
      <p:cxnSp>
        <p:nvCxnSpPr>
          <p:cNvPr id="248" name="ER Line Match-Venue b"/>
          <p:cNvCxnSpPr/>
          <p:nvPr/>
        </p:nvCxnSpPr>
        <p:spPr>
          <a:xfrm>
            <a:off x="8769096" y="8823960"/>
            <a:ext cx="896112" cy="0"/>
          </a:xfrm>
          <a:prstGeom prst="line">
            <a:avLst/>
          </a:prstGeom>
          <a:ln w="12700">
            <a:solidFill>
              <a:srgbClr val="C2410C"/>
            </a:solidFill>
          </a:ln>
        </p:spPr>
      </p:cxnSp>
      <p:cxnSp>
        <p:nvCxnSpPr>
          <p:cNvPr id="249" name="ER Line Match-Venue c"/>
          <p:cNvCxnSpPr/>
          <p:nvPr/>
        </p:nvCxnSpPr>
        <p:spPr>
          <a:xfrm>
            <a:off x="9665208" y="8823960"/>
            <a:ext cx="0" cy="109728"/>
          </a:xfrm>
          <a:prstGeom prst="line">
            <a:avLst/>
          </a:prstGeom>
          <a:ln w="12700">
            <a:solidFill>
              <a:srgbClr val="C2410C"/>
            </a:solidFill>
          </a:ln>
        </p:spPr>
      </p:cxnSp>
      <p:sp>
        <p:nvSpPr>
          <p:cNvPr id="250" name="ER Card Match-Venue T"/>
          <p:cNvSpPr txBox="1"/>
          <p:nvPr/>
        </p:nvSpPr>
        <p:spPr>
          <a:xfrm>
            <a:off x="8787384" y="8709660"/>
            <a:ext cx="109728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7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</a:p>
        </p:txBody>
      </p:sp>
      <p:sp>
        <p:nvSpPr>
          <p:cNvPr id="251" name="ER Card Match-Venue B"/>
          <p:cNvSpPr txBox="1"/>
          <p:nvPr/>
        </p:nvSpPr>
        <p:spPr>
          <a:xfrm>
            <a:off x="9683496" y="8819388"/>
            <a:ext cx="109728" cy="118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0"/>
              </a:spcAft>
              <a:buNone/>
            </a:pPr>
            <a:r>
              <a:rPr lang="en-US" sz="7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2026-09-28T08:11:17Z</dcterms:created>
  <dcterms:modified xsi:type="dcterms:W3CDTF">2026-09-28T08:11:17Z</dcterms:modified>
</cp:coreProperties>
</file>